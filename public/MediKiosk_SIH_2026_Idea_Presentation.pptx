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5624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103628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TITLE PAGE — IDEA SUBMISSION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21792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spcAft>
                <a:spcPts val="1100"/>
              </a:spcAft>
              <a:defRPr b="1" sz="1400">
                <a:solidFill>
                  <a:srgbClr val="1A365D"/>
                </a:solidFill>
              </a:defRPr>
            </a:pPr>
            <a:r>
              <a:t>• Problem Statement ID: </a:t>
            </a:r>
            <a:r>
              <a:rPr b="0">
                <a:solidFill>
                  <a:srgbClr val="1E293B"/>
                </a:solidFill>
              </a:rPr>
              <a:t>SIH2363 (or Custom PS ID)</a:t>
            </a:r>
          </a:p>
          <a:p>
            <a:pPr>
              <a:spcAft>
                <a:spcPts val="1100"/>
              </a:spcAft>
              <a:defRPr b="1" sz="1400">
                <a:solidFill>
                  <a:srgbClr val="1A365D"/>
                </a:solidFill>
              </a:defRPr>
            </a:pPr>
            <a:r>
              <a:t>• Problem Statement Title: </a:t>
            </a:r>
            <a:r>
              <a:rPr b="0">
                <a:solidFill>
                  <a:srgbClr val="1E293B"/>
                </a:solidFill>
              </a:rPr>
              <a:t>Patient Case-Taking Software</a:t>
            </a:r>
          </a:p>
          <a:p>
            <a:pPr>
              <a:spcAft>
                <a:spcPts val="1100"/>
              </a:spcAft>
              <a:defRPr b="1" sz="1400">
                <a:solidFill>
                  <a:srgbClr val="1A365D"/>
                </a:solidFill>
              </a:defRPr>
            </a:pPr>
            <a:r>
              <a:t>• Theme: </a:t>
            </a:r>
            <a:r>
              <a:rPr b="0">
                <a:solidFill>
                  <a:srgbClr val="1E293B"/>
                </a:solidFill>
              </a:rPr>
              <a:t>MedTech / BioTech / HealthTech</a:t>
            </a:r>
          </a:p>
          <a:p>
            <a:pPr>
              <a:spcAft>
                <a:spcPts val="1100"/>
              </a:spcAft>
              <a:defRPr b="1" sz="1400">
                <a:solidFill>
                  <a:srgbClr val="1A365D"/>
                </a:solidFill>
              </a:defRPr>
            </a:pPr>
            <a:r>
              <a:t>• PS Category: </a:t>
            </a:r>
            <a:r>
              <a:rPr b="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100"/>
              </a:spcAft>
              <a:defRPr b="1" sz="1400">
                <a:solidFill>
                  <a:srgbClr val="1A365D"/>
                </a:solidFill>
              </a:defRPr>
            </a:pPr>
            <a:r>
              <a:t>• Team ID: </a:t>
            </a:r>
            <a:r>
              <a:rPr b="0">
                <a:solidFill>
                  <a:srgbClr val="1E293B"/>
                </a:solidFill>
              </a:rPr>
              <a:t>[Enter Your Registered Team ID]</a:t>
            </a:r>
          </a:p>
          <a:p>
            <a:pPr>
              <a:spcAft>
                <a:spcPts val="1100"/>
              </a:spcAft>
              <a:defRPr b="1" sz="1400">
                <a:solidFill>
                  <a:srgbClr val="1A365D"/>
                </a:solidFill>
              </a:defRPr>
            </a:pPr>
            <a:r>
              <a:t>• Team Name: </a:t>
            </a:r>
            <a:r>
              <a:rPr b="0">
                <a:solidFill>
                  <a:srgbClr val="1E293B"/>
                </a:solidFill>
              </a:rPr>
              <a:t>MediKiosk / [Enter Team Name]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508760"/>
            <a:ext cx="4297680" cy="37490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b="1" sz="2000">
                <a:solidFill>
                  <a:srgbClr val="2563EB"/>
                </a:solidFill>
              </a:defRPr>
            </a:pPr>
            <a:r>
              <a:t>PROJECT MEDIKIOSK</a:t>
            </a:r>
          </a:p>
          <a:p>
            <a:pPr algn="ctr">
              <a:spcAft>
                <a:spcPts val="1400"/>
              </a:spcAft>
              <a:defRPr b="1" i="1" sz="1200">
                <a:solidFill>
                  <a:srgbClr val="1E293B"/>
                </a:solidFill>
              </a:defRPr>
            </a:pPr>
            <a:r>
              <a:t>“AI collects. AI structures. AI highlights. The doctor decides.”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 Multilingual Touch &amp; Voice Kiosk (EN/HI/TE)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 Optical Prescription &amp; Lab OCR Extraction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 Deterministic Red Flag &amp; Risk Stratification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 Doctor Workspace with 100% Provenance Links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 National ABDM &amp; FHIR R4 Bundle Export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 100% Offline-First Edge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24231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2563EB"/>
                </a:solidFill>
              </a:defRPr>
            </a:pPr>
            <a:r>
              <a:t>1. Patient Kiosk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Touch / Voice Vernacular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9544" y="5742432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7288" y="5486400"/>
            <a:ext cx="24231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D97706"/>
                </a:solidFill>
              </a:defRPr>
            </a:pPr>
            <a:r>
              <a:t>2. Nurse Console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Urgency &amp; Vitals Triage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25312" y="5742432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63056" y="5486400"/>
            <a:ext cx="24231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3. Doctor Workspace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Timeline &amp; Verified Facts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41080" y="5742432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78824" y="5486400"/>
            <a:ext cx="24231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1200">
                <a:solidFill>
                  <a:srgbClr val="7C3AED"/>
                </a:solidFill>
              </a:defRPr>
            </a:pPr>
            <a:r>
              <a:t>4. ABDM Gateway</a:t>
            </a:r>
          </a:p>
          <a:p>
            <a:pPr algn="ctr">
              <a:defRPr sz="950">
                <a:solidFill>
                  <a:srgbClr val="1E293B"/>
                </a:solidFill>
              </a:defRPr>
            </a:pPr>
            <a:r>
              <a:t>FHIR R4 Bundle Dispatch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5624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74320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A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A365D"/>
                </a:solidFill>
              </a:defRPr>
            </a:pPr>
            <a:r>
              <a:t>IDEA TITLE: MEDIKIOSK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72768"/>
            <a:ext cx="352044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400"/>
              </a:spcAft>
              <a:defRPr b="1" sz="950">
                <a:solidFill>
                  <a:srgbClr val="2563EB"/>
                </a:solidFill>
              </a:defRPr>
            </a:pPr>
            <a:r>
              <a:t>[PILLAR 1: MULTI-PORTAL INTAKE]</a:t>
            </a:r>
          </a:p>
          <a:p>
            <a:pPr>
              <a:spcAft>
                <a:spcPts val="800"/>
              </a:spcAft>
              <a:defRPr b="1" sz="1300">
                <a:solidFill>
                  <a:srgbClr val="1A365D"/>
                </a:solidFill>
              </a:defRPr>
            </a:pPr>
            <a:r>
              <a:t>Detailed Explanation of Solution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Multi-Portal System: </a:t>
            </a:r>
            <a:r>
              <a:rPr b="0">
                <a:solidFill>
                  <a:srgbClr val="1E293B"/>
                </a:solidFill>
              </a:rPr>
              <a:t>Closed-loop system connecting Patient Kiosk, Nurse Triage Console, Doctor Unified Workspace, and Admin Portal.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Vernacular Case-Taking: </a:t>
            </a:r>
            <a:r>
              <a:rPr b="0">
                <a:solidFill>
                  <a:srgbClr val="1E293B"/>
                </a:solidFill>
              </a:rPr>
              <a:t>Conversational questionnaire in Hindi, Telugu, and English capturing chief complaints, duration, history, and allergies.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Prescription &amp; Lab OCR: </a:t>
            </a:r>
            <a:r>
              <a:rPr b="0">
                <a:solidFill>
                  <a:srgbClr val="1E293B"/>
                </a:solidFill>
              </a:rPr>
              <a:t>Scans physical prescriptions and lab reports with automated bounding-box coordinate mapping.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Fact &amp; Timeline Synthesis: </a:t>
            </a:r>
            <a:r>
              <a:rPr b="0">
                <a:solidFill>
                  <a:srgbClr val="1E293B"/>
                </a:solidFill>
              </a:rPr>
              <a:t>Consolidates diverse patient inputs into structured clinical ontologies and chronological timelines.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72768"/>
            <a:ext cx="352044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400"/>
              </a:spcAft>
              <a:defRPr b="1" sz="950">
                <a:solidFill>
                  <a:srgbClr val="0D9488"/>
                </a:solidFill>
              </a:defRPr>
            </a:pPr>
            <a:r>
              <a:t>[PILLAR 2: CLINICAL EFFICIENCY]</a:t>
            </a:r>
          </a:p>
          <a:p>
            <a:pPr>
              <a:spcAft>
                <a:spcPts val="800"/>
              </a:spcAft>
              <a:defRPr b="1" sz="1300">
                <a:solidFill>
                  <a:srgbClr val="1A365D"/>
                </a:solidFill>
              </a:defRPr>
            </a:pPr>
            <a:r>
              <a:t>How It Addresses the Problem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Overcomes Doctor Burnout: </a:t>
            </a:r>
            <a:r>
              <a:rPr b="0">
                <a:solidFill>
                  <a:srgbClr val="1E293B"/>
                </a:solidFill>
              </a:rPr>
              <a:t>Eliminates 60-70% of consultation time wasted on manual interrogation and handwritten deciphering.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Reduces Documentation Time: </a:t>
            </a:r>
            <a:r>
              <a:rPr b="0">
                <a:solidFill>
                  <a:srgbClr val="1E293B"/>
                </a:solidFill>
              </a:rPr>
              <a:t>Cuts pre-consultation documentation from 10-12 mins down to under 3 mins per patient.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Prevents Clinical Oversights: </a:t>
            </a:r>
            <a:r>
              <a:rPr b="0">
                <a:solidFill>
                  <a:srgbClr val="1E293B"/>
                </a:solidFill>
              </a:rPr>
              <a:t>Surfaces missed drug interactions, contraindications, and abnormal lab callouts prior to doctor exam.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Smooths OPD Waiting Bays: </a:t>
            </a:r>
            <a:r>
              <a:rPr b="0">
                <a:solidFill>
                  <a:srgbClr val="1E293B"/>
                </a:solidFill>
              </a:rPr>
              <a:t>Automates initial triage intake in waiting areas, smoothing patient queue throughput.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520440" cy="39776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400"/>
              </a:spcAft>
              <a:defRPr b="1" sz="950">
                <a:solidFill>
                  <a:srgbClr val="1A365D"/>
                </a:solidFill>
              </a:defRPr>
            </a:pPr>
            <a:r>
              <a:t>[PILLAR 3: TRUST &amp; SAFETY]</a:t>
            </a:r>
          </a:p>
          <a:p>
            <a:pPr>
              <a:spcAft>
                <a:spcPts val="800"/>
              </a:spcAft>
              <a:defRPr b="1" sz="1300">
                <a:solidFill>
                  <a:srgbClr val="1A365D"/>
                </a:solidFill>
              </a:defRPr>
            </a:pPr>
            <a:r>
              <a:t>Innovation &amp; Uniqueness of Solution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Strict Assistive Philosophy: </a:t>
            </a:r>
            <a:r>
              <a:rPr b="0">
                <a:solidFill>
                  <a:srgbClr val="1E293B"/>
                </a:solidFill>
              </a:rPr>
              <a:t>Zero autonomous diagnosing or prescribing; AI structures data, highlighting critical facts for licensed clinicians.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100% Evidence Provenance: </a:t>
            </a:r>
            <a:r>
              <a:rPr b="0">
                <a:solidFill>
                  <a:srgbClr val="1E293B"/>
                </a:solidFill>
              </a:rPr>
              <a:t>Every clinical fact links directly to clickable source evidence (bounding boxes on scanned paper or patient quotes).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Offline-First Resilience: </a:t>
            </a:r>
            <a:r>
              <a:rPr b="0">
                <a:solidFill>
                  <a:srgbClr val="1E293B"/>
                </a:solidFill>
              </a:rPr>
              <a:t>Runs 100% locally on hospital LAN with zero cloud dependencies and zero recurring LLM token bills.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• ABDM &amp; FHIR R4 Ready: </a:t>
            </a:r>
            <a:r>
              <a:rPr b="0">
                <a:solidFill>
                  <a:srgbClr val="1E293B"/>
                </a:solidFill>
              </a:rPr>
              <a:t>Standardized Indian healthcare data exchange with 1-click Fast Healthcare Interoperability Resources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650992"/>
            <a:ext cx="1109441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HUMAN-IN-THE-LOOP SAFETY ARCHITECTURE:   </a:t>
            </a:r>
            <a:r>
              <a:rPr b="1">
                <a:solidFill>
                  <a:srgbClr val="2563EB"/>
                </a:solidFill>
              </a:rPr>
              <a:t>AI Collects</a:t>
            </a:r>
            <a:r>
              <a:rPr b="1">
                <a:solidFill>
                  <a:srgbClr val="0D9488"/>
                </a:solidFill>
              </a:rPr>
              <a:t>  ➔  AI Structures</a:t>
            </a:r>
            <a:r>
              <a:rPr b="1">
                <a:solidFill>
                  <a:srgbClr val="D97706"/>
                </a:solidFill>
              </a:rPr>
              <a:t>  ➔  AI Highlights</a:t>
            </a:r>
            <a:r>
              <a:rPr b="1">
                <a:solidFill>
                  <a:srgbClr val="16A34A"/>
                </a:solidFill>
              </a:rPr>
              <a:t>  ➔  DOCTOR DECIDES (100% Control)</a:t>
            </a:r>
          </a:p>
          <a:p>
            <a:pPr algn="ctr">
              <a:defRPr sz="950" i="1">
                <a:solidFill>
                  <a:srgbClr val="1E293B"/>
                </a:solidFill>
              </a:defRPr>
            </a:pPr>
            <a:r>
              <a:t>Strict Medical Guardrail: Zero autonomous diagnoses, zero automated prescriptions, zero ungrounded clinical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5624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74320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A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A365D"/>
                </a:solidFill>
              </a:defRPr>
            </a:pPr>
            <a:r>
              <a:t>TECHNICAL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5204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200">
                <a:solidFill>
                  <a:srgbClr val="2563EB"/>
                </a:solidFill>
              </a:defRPr>
            </a:pPr>
            <a:r>
              <a:t>✔ Frontend &amp; Accessibility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React 18, TypeScript, Tailwind CSS, Lucide Icons, High-Contrast Accessibility Mode, HTML5 Canvas Annotation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234440"/>
            <a:ext cx="35204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200">
                <a:solidFill>
                  <a:srgbClr val="7C3AED"/>
                </a:solidFill>
              </a:defRPr>
            </a:pPr>
            <a:r>
              <a:t>✔ Backend &amp; Data Tier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Python 3.11+, FastAPI (asynchronous REST APIs), PostgreSQL, Supabase, Row-Level Security (RLS) on 18 clinical tables, bcrypt.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234440"/>
            <a:ext cx="3520440" cy="1600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400"/>
              </a:spcAft>
              <a:defRPr b="1" sz="1200">
                <a:solidFill>
                  <a:srgbClr val="0D9488"/>
                </a:solidFill>
              </a:defRPr>
            </a:pPr>
            <a:r>
              <a:t>✔ Clinical AI &amp; Edge Hardware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Deterministic Clinical Engine, Tesseract/Vision OCR, Bounding Box Coordinates, Touchscreen Kiosk, Edge Mini-PC / Local 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A365D"/>
                </a:solidFill>
              </a:defRPr>
            </a:pPr>
            <a:r>
              <a:t>• Methodology &amp; Process for Implementation (5-Stage Working Prototype Flowchart)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199339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b="1" sz="1000">
                <a:solidFill>
                  <a:srgbClr val="2563EB"/>
                </a:solidFill>
              </a:defRPr>
            </a:pPr>
            <a:r>
              <a:t>STAGE 1</a:t>
            </a:r>
          </a:p>
          <a:p>
            <a:pPr algn="ctr">
              <a:spcAft>
                <a:spcPts val="800"/>
              </a:spcAft>
              <a:defRPr b="1" sz="1100">
                <a:solidFill>
                  <a:srgbClr val="1A365D"/>
                </a:solidFill>
              </a:defRPr>
            </a:pPr>
            <a:r>
              <a:t>Patient Intake &amp; Consent</a:t>
            </a:r>
          </a:p>
          <a:p>
            <a:pPr algn="l">
              <a:defRPr sz="950">
                <a:solidFill>
                  <a:srgbClr val="1E293B"/>
                </a:solidFill>
              </a:defRPr>
            </a:pPr>
            <a:r>
              <a:t>ABDM consent capture -&gt; Vernacular voice/touch (EN/HI/TE) -&gt; Patient photo/camera intake.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87752" y="457200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6352" y="3291840"/>
            <a:ext cx="199339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b="1" sz="1000">
                <a:solidFill>
                  <a:srgbClr val="7C3AED"/>
                </a:solidFill>
              </a:defRPr>
            </a:pPr>
            <a:r>
              <a:t>STAGE 2</a:t>
            </a:r>
          </a:p>
          <a:p>
            <a:pPr algn="ctr">
              <a:spcAft>
                <a:spcPts val="800"/>
              </a:spcAft>
              <a:defRPr b="1" sz="1100">
                <a:solidFill>
                  <a:srgbClr val="1A365D"/>
                </a:solidFill>
              </a:defRPr>
            </a:pPr>
            <a:r>
              <a:t>Optical Vision &amp; OCR</a:t>
            </a:r>
          </a:p>
          <a:p>
            <a:pPr algn="l">
              <a:defRPr sz="950">
                <a:solidFill>
                  <a:srgbClr val="1E293B"/>
                </a:solidFill>
              </a:defRPr>
            </a:pPr>
            <a:r>
              <a:t>Scans physical prescriptions &amp; labs -&gt; Extracts text with bounding-box pixel coordinates.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55464" y="457200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4" y="3291840"/>
            <a:ext cx="199339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b="1" sz="1000">
                <a:solidFill>
                  <a:srgbClr val="D97706"/>
                </a:solidFill>
              </a:defRPr>
            </a:pPr>
            <a:r>
              <a:t>STAGE 3</a:t>
            </a:r>
          </a:p>
          <a:p>
            <a:pPr algn="ctr">
              <a:spcAft>
                <a:spcPts val="800"/>
              </a:spcAft>
              <a:defRPr b="1" sz="1100">
                <a:solidFill>
                  <a:srgbClr val="1A365D"/>
                </a:solidFill>
              </a:defRPr>
            </a:pPr>
            <a:r>
              <a:t>Clinical Intelligence</a:t>
            </a:r>
          </a:p>
          <a:p>
            <a:pPr algn="l">
              <a:defRPr sz="950">
                <a:solidFill>
                  <a:srgbClr val="1E293B"/>
                </a:solidFill>
              </a:defRPr>
            </a:pPr>
            <a:r>
              <a:t>Ontology normalization -&gt; Chronological timeline -&gt; Red flag &amp; drug conflict matrix.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23176" y="457200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51776" y="3291840"/>
            <a:ext cx="199339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b="1" sz="1000">
                <a:solidFill>
                  <a:srgbClr val="0D9488"/>
                </a:solidFill>
              </a:defRPr>
            </a:pPr>
            <a:r>
              <a:t>STAGE 4</a:t>
            </a:r>
          </a:p>
          <a:p>
            <a:pPr algn="ctr">
              <a:spcAft>
                <a:spcPts val="800"/>
              </a:spcAft>
              <a:defRPr b="1" sz="1100">
                <a:solidFill>
                  <a:srgbClr val="1A365D"/>
                </a:solidFill>
              </a:defRPr>
            </a:pPr>
            <a:r>
              <a:t>Nurse Triage &amp; Vitals</a:t>
            </a:r>
          </a:p>
          <a:p>
            <a:pPr algn="l">
              <a:defRPr sz="950">
                <a:solidFill>
                  <a:srgbClr val="1E293B"/>
                </a:solidFill>
              </a:defRPr>
            </a:pPr>
            <a:r>
              <a:t>Automated priority sorting (Emergency / High / Routine) -&gt; Nurse logs vital signs.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90888" y="457200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19488" y="3291840"/>
            <a:ext cx="199339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400"/>
              </a:spcAft>
              <a:defRPr b="1" sz="1000">
                <a:solidFill>
                  <a:srgbClr val="16A34A"/>
                </a:solidFill>
              </a:defRPr>
            </a:pPr>
            <a:r>
              <a:t>STAGE 5</a:t>
            </a:r>
          </a:p>
          <a:p>
            <a:pPr algn="ctr">
              <a:spcAft>
                <a:spcPts val="800"/>
              </a:spcAft>
              <a:defRPr b="1" sz="1100">
                <a:solidFill>
                  <a:srgbClr val="1A365D"/>
                </a:solidFill>
              </a:defRPr>
            </a:pPr>
            <a:r>
              <a:t>Doctor Verify &amp; Export</a:t>
            </a:r>
          </a:p>
          <a:p>
            <a:pPr algn="l">
              <a:defRPr sz="950">
                <a:solidFill>
                  <a:srgbClr val="1E293B"/>
                </a:solidFill>
              </a:defRPr>
            </a:pPr>
            <a:r>
              <a:t>Interactive patient story -&gt; 1-click source evidence check -&gt; Verified ABDM FHIR R4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5624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74320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A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A365D"/>
                </a:solidFill>
              </a:defRPr>
            </a:pPr>
            <a:r>
              <a:t>FEASIBILITY AND VIABILITY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411480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• Analysis of Feasibility</a:t>
            </a:r>
          </a:p>
          <a:p>
            <a:pPr>
              <a:spcAft>
                <a:spcPts val="600"/>
              </a:spcAft>
              <a:defRPr b="1" sz="1100">
                <a:solidFill>
                  <a:srgbClr val="1A365D"/>
                </a:solidFill>
              </a:defRPr>
            </a:pPr>
            <a:r>
              <a:t>✔ Working Prototype Demonstrated: </a:t>
            </a:r>
            <a:r>
              <a:rPr b="0">
                <a:solidFill>
                  <a:srgbClr val="1E293B"/>
                </a:solidFill>
              </a:rPr>
              <a:t>Fully functional multi-portal software already engineered, integrated, and validated locally with mock clinical data.</a:t>
            </a:r>
          </a:p>
          <a:p>
            <a:pPr>
              <a:spcAft>
                <a:spcPts val="600"/>
              </a:spcAft>
              <a:defRPr b="1" sz="1100">
                <a:solidFill>
                  <a:srgbClr val="1A365D"/>
                </a:solidFill>
              </a:defRPr>
            </a:pPr>
            <a:r>
              <a:t>✔ Zero Recurring Cloud Costs: </a:t>
            </a:r>
            <a:r>
              <a:rPr b="0">
                <a:solidFill>
                  <a:srgbClr val="1E293B"/>
                </a:solidFill>
              </a:rPr>
              <a:t>Operates entirely on offline edge hardware with zero external API fees, making it economically feasible for public hospitals.</a:t>
            </a:r>
          </a:p>
          <a:p>
            <a:pPr>
              <a:spcAft>
                <a:spcPts val="600"/>
              </a:spcAft>
              <a:defRPr b="1" sz="1100">
                <a:solidFill>
                  <a:srgbClr val="1A365D"/>
                </a:solidFill>
              </a:defRPr>
            </a:pPr>
            <a:r>
              <a:t>✔ Zero Disruption to Doctors: </a:t>
            </a:r>
            <a:r>
              <a:rPr b="0">
                <a:solidFill>
                  <a:srgbClr val="1E293B"/>
                </a:solidFill>
              </a:rPr>
              <a:t>Doctors maintain their natural diagnostic intuition; MediKiosk augments their workflow with pre-assembled clinical summaries.</a:t>
            </a:r>
          </a:p>
          <a:p>
            <a:pPr>
              <a:spcAft>
                <a:spcPts val="600"/>
              </a:spcAft>
              <a:defRPr b="1" sz="1100">
                <a:solidFill>
                  <a:srgbClr val="1A365D"/>
                </a:solidFill>
              </a:defRPr>
            </a:pPr>
            <a:r>
              <a:t>✔ Commodity Hardware Readily Available: </a:t>
            </a:r>
            <a:r>
              <a:rPr b="0">
                <a:solidFill>
                  <a:srgbClr val="1E293B"/>
                </a:solidFill>
              </a:rPr>
              <a:t>Compatible with off-the-shelf touchscreen kiosks, Android tablets, or low-cost all-in-one desktop POS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143000"/>
            <a:ext cx="6766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365D"/>
                </a:solidFill>
              </a:defRPr>
            </a:pPr>
            <a:r>
              <a:t>• Potential Challenges vs. Overcoming Strategies (Infographic Matrix)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508760"/>
            <a:ext cx="31089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⚠️ Risk: Patient Digital Literacy Barrier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Elderly/rural patients struggling with touchscreens.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46720" y="1874520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33375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0D9488"/>
                </a:solidFill>
              </a:defRPr>
            </a:pPr>
            <a:r>
              <a:t>🛡️ Strategy: Vernacular Voice &amp; Assisted Mode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Voice prompts in Hindi/Telugu/English + Volunteer/Staff Assisted Mode.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97480"/>
            <a:ext cx="31089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⚠️ Risk: Poor Quality Paper Prescriptions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Torn, crumpled, or illegible handwritten doctor scripts.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46720" y="3063240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0" y="2697480"/>
            <a:ext cx="33375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0D9488"/>
                </a:solidFill>
              </a:defRPr>
            </a:pPr>
            <a:r>
              <a:t>🛡️ Strategy: Coordinate Bounding Boxes &amp; Review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Never hallucinate; low-confidence text flagged for 1-click doctor inspection.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886200"/>
            <a:ext cx="31089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⚠️ Risk: High OPD Footfall &amp; Data Privacy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Shoulder-surfing or abandoned sessions in public areas.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46720" y="4251960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3886200"/>
            <a:ext cx="33375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0D9488"/>
                </a:solidFill>
              </a:defRPr>
            </a:pPr>
            <a:r>
              <a:t>🛡️ Strategy: Ephemeral Sessions &amp; PostgreSQL RLS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Auto-timeout purges session immediately; Row-Level Security isolates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5074920"/>
            <a:ext cx="31089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E11D48"/>
                </a:solidFill>
              </a:defRPr>
            </a:pPr>
            <a:r>
              <a:t>⚠️ Risk: Intermittent Rural Connectivity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Unstable or absent internet in remote PHCs / CHCs.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46720" y="5440680"/>
            <a:ext cx="182880" cy="22860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5074920"/>
            <a:ext cx="333756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spcAft>
                <a:spcPts val="200"/>
              </a:spcAft>
              <a:defRPr b="1" sz="1000">
                <a:solidFill>
                  <a:srgbClr val="0D9488"/>
                </a:solidFill>
              </a:defRPr>
            </a:pPr>
            <a:r>
              <a:t>🛡️ Strategy: 100% Offline Edge &amp; Async Sync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Runs on local hospital LAN; syncs to national ABDM registries when connected.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5624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74320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A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A365D"/>
                </a:solidFill>
              </a:defRPr>
            </a:pPr>
            <a:r>
              <a:t>IMPACT AND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2200">
                <a:solidFill>
                  <a:srgbClr val="2563EB"/>
                </a:solidFill>
              </a:defRPr>
            </a:pPr>
            <a:r>
              <a:t>~70%</a:t>
            </a:r>
          </a:p>
          <a:p>
            <a:pPr algn="ctr">
              <a:defRPr b="1" sz="1050">
                <a:solidFill>
                  <a:srgbClr val="1A365D"/>
                </a:solidFill>
              </a:defRPr>
            </a:pPr>
            <a:r>
              <a:t>TIME SAVED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Documentation burden reduced for doctors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2200">
                <a:solidFill>
                  <a:srgbClr val="0D9488"/>
                </a:solidFill>
              </a:defRPr>
            </a:pPr>
            <a:r>
              <a:t>2.5x–3x</a:t>
            </a:r>
          </a:p>
          <a:p>
            <a:pPr algn="ctr">
              <a:defRPr b="1" sz="1050">
                <a:solidFill>
                  <a:srgbClr val="1A365D"/>
                </a:solidFill>
              </a:defRPr>
            </a:pPr>
            <a:r>
              <a:t>PATIENT TURNOVER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Increased daily OPD capacity per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2200">
                <a:solidFill>
                  <a:srgbClr val="7C3AED"/>
                </a:solidFill>
              </a:defRPr>
            </a:pPr>
            <a:r>
              <a:t>100%</a:t>
            </a:r>
          </a:p>
          <a:p>
            <a:pPr algn="ctr">
              <a:defRPr b="1" sz="1050">
                <a:solidFill>
                  <a:srgbClr val="1A365D"/>
                </a:solidFill>
              </a:defRPr>
            </a:pPr>
            <a:r>
              <a:t>OFFLINE CAPABLE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Zero dependence on external cloud or 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23444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b="1" sz="2200">
                <a:solidFill>
                  <a:srgbClr val="16A34A"/>
                </a:solidFill>
              </a:defRPr>
            </a:pPr>
            <a:r>
              <a:t>&lt; 3 MINS</a:t>
            </a:r>
          </a:p>
          <a:p>
            <a:pPr algn="ctr">
              <a:defRPr b="1" sz="1050">
                <a:solidFill>
                  <a:srgbClr val="1A365D"/>
                </a:solidFill>
              </a:defRPr>
            </a:pPr>
            <a:r>
              <a:t>TRIAGE VELOCITY</a:t>
            </a:r>
          </a:p>
          <a:p>
            <a:pPr algn="ctr">
              <a:defRPr sz="850">
                <a:solidFill>
                  <a:srgbClr val="1E293B"/>
                </a:solidFill>
              </a:defRPr>
            </a:pPr>
            <a:r>
              <a:t>From intake to doctor-ready verified chart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94960" cy="374903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2563EB"/>
                </a:solidFill>
              </a:defRPr>
            </a:pPr>
            <a:r>
              <a:t>• Potential Impact on Target Audience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★ Outpatients &amp; Rural Citizens</a:t>
            </a:r>
            <a:br/>
            <a:r>
              <a:rPr b="0">
                <a:solidFill>
                  <a:srgbClr val="1E293B"/>
                </a:solidFill>
              </a:rPr>
              <a:t>Compresses OPD wait times from 3-4 hours to under 45 mins. Empowers non-English speakers through vernacular voice &amp; touch case-taking.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★ Medical Doctors &amp; Specialists</a:t>
            </a:r>
            <a:br/>
            <a:r>
              <a:rPr b="0">
                <a:solidFill>
                  <a:srgbClr val="1E293B"/>
                </a:solidFill>
              </a:rPr>
              <a:t>Saves 60%+ of consultation time spent on repetitive note-taking. Eliminates clerical fatigue, allowing focus on direct clinical examination.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★ Triage &amp; Nursing Staff</a:t>
            </a:r>
            <a:br/>
            <a:r>
              <a:rPr b="0">
                <a:solidFill>
                  <a:srgbClr val="1E293B"/>
                </a:solidFill>
              </a:rPr>
              <a:t>Automated red flag alerts highlight critical cases instantly (`EMERGENCY_ESCALATION`), preventing triage room delays.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★ Hospital Administrators</a:t>
            </a:r>
            <a:br/>
            <a:r>
              <a:rPr b="0">
                <a:solidFill>
                  <a:srgbClr val="1E293B"/>
                </a:solidFill>
              </a:rPr>
              <a:t>Increases OPD patient processing throughput by 2.5x to 3x without hiring additional clerical staff; delivers complete digital auditability.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39496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0D9488"/>
                </a:solidFill>
              </a:defRPr>
            </a:pPr>
            <a:r>
              <a:t>• Benefits of Solution (Social, Economic, Env)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🌱 Social &amp; Healthcare Equity</a:t>
            </a:r>
            <a:br/>
            <a:r>
              <a:rPr b="0">
                <a:solidFill>
                  <a:srgbClr val="1E293B"/>
                </a:solidFill>
              </a:rPr>
              <a:t>Bridges the digital divide in healthcare; democratizes access to state-of-the-art clinical intake for rural, elderly, and low-literacy patients.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🌱 Economic Savings &amp; Affordability</a:t>
            </a:r>
            <a:br/>
            <a:r>
              <a:rPr b="0">
                <a:solidFill>
                  <a:srgbClr val="1E293B"/>
                </a:solidFill>
              </a:rPr>
              <a:t>Reduces per-patient documentation overhead; averts costly adverse drug interactions and unnecessary duplicate lab investigations.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🌱 Operational Scalability</a:t>
            </a:r>
            <a:br/>
            <a:r>
              <a:rPr b="0">
                <a:solidFill>
                  <a:srgbClr val="1E293B"/>
                </a:solidFill>
              </a:rPr>
              <a:t>Easily replicable across thousands of Primary Health Centers (PHCs), Community Health Centers (CHCs), and AIIMS district hospitals.</a:t>
            </a:r>
          </a:p>
          <a:p>
            <a:pPr>
              <a:spcAft>
                <a:spcPts val="400"/>
              </a:spcAft>
              <a:defRPr b="1" sz="1050">
                <a:solidFill>
                  <a:srgbClr val="1A365D"/>
                </a:solidFill>
              </a:defRPr>
            </a:pPr>
            <a:r>
              <a:t>🌱 Environmental / Paperless OPD</a:t>
            </a:r>
            <a:br/>
            <a:r>
              <a:rPr b="0">
                <a:solidFill>
                  <a:srgbClr val="1E293B"/>
                </a:solidFill>
              </a:rPr>
              <a:t>Replaces tens of thousands of paper prescription pads and physical case-record storage folders with digital, ABDM-compliant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5624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 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7432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Your 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74320"/>
            <a:ext cx="2103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1A365D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A365D"/>
                </a:solidFill>
              </a:defRPr>
            </a:pPr>
            <a:r>
              <a:t>RESEARCH AND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11094415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b="1" sz="1500">
                <a:solidFill>
                  <a:srgbClr val="1A365D"/>
                </a:solidFill>
              </a:defRPr>
            </a:pPr>
            <a:r>
              <a:t>• Details / Links of the Reference and Research Work</a:t>
            </a:r>
          </a:p>
          <a:p>
            <a:pPr>
              <a:spcAft>
                <a:spcPts val="600"/>
              </a:spcAft>
              <a:defRPr b="1" sz="1150">
                <a:solidFill>
                  <a:srgbClr val="1A365D"/>
                </a:solidFill>
              </a:defRPr>
            </a:pPr>
            <a:r>
              <a:t>• 1. Ayushman Bharat Digital Mission (ABDM) Architecture</a:t>
            </a:r>
            <a:br/>
            <a:r>
              <a:t>  </a:t>
            </a:r>
            <a:r>
              <a:rPr b="0" sz="1000">
                <a:solidFill>
                  <a:srgbClr val="1E293B"/>
                </a:solidFill>
              </a:rPr>
              <a:t>National Health Authority (NHA) technical architecture guidelines for electronic health records, consent managers, and unified health interfaces.
  </a:t>
            </a:r>
            <a:r>
              <a:rPr b="1" sz="950">
                <a:solidFill>
                  <a:srgbClr val="2563EB"/>
                </a:solidFill>
              </a:rPr>
              <a:t>URL: https://abdm.gov.in | https://sandbox.abdm.gov.in</a:t>
            </a:r>
          </a:p>
          <a:p>
            <a:pPr>
              <a:spcAft>
                <a:spcPts val="600"/>
              </a:spcAft>
              <a:defRPr b="1" sz="1150">
                <a:solidFill>
                  <a:srgbClr val="1A365D"/>
                </a:solidFill>
              </a:defRPr>
            </a:pPr>
            <a:r>
              <a:t>• 2. HL7 FHIR Release 4 Standards &amp; Specifications</a:t>
            </a:r>
            <a:br/>
            <a:r>
              <a:t>  </a:t>
            </a:r>
            <a:r>
              <a:rPr b="0" sz="1000">
                <a:solidFill>
                  <a:srgbClr val="1E293B"/>
                </a:solidFill>
              </a:rPr>
              <a:t>Fast Healthcare Interoperability Resources (FHIR) specifications for clinical resources: Encounter, Condition, AllergyIntolerance, DiagnosticReport, and Composition.
  </a:t>
            </a:r>
            <a:r>
              <a:rPr b="1" sz="950">
                <a:solidFill>
                  <a:srgbClr val="2563EB"/>
                </a:solidFill>
              </a:rPr>
              <a:t>URL: https://hl7.org/fhir/R4/</a:t>
            </a:r>
          </a:p>
          <a:p>
            <a:pPr>
              <a:spcAft>
                <a:spcPts val="600"/>
              </a:spcAft>
              <a:defRPr b="1" sz="1150">
                <a:solidFill>
                  <a:srgbClr val="1A365D"/>
                </a:solidFill>
              </a:defRPr>
            </a:pPr>
            <a:r>
              <a:t>• 3. Emergency Severity Index (ESI) Triage Protocol</a:t>
            </a:r>
            <a:br/>
            <a:r>
              <a:t>  </a:t>
            </a:r>
            <a:r>
              <a:rPr b="0" sz="1000">
                <a:solidFill>
                  <a:srgbClr val="1E293B"/>
                </a:solidFill>
              </a:rPr>
              <a:t>Agency for Healthcare Research and Quality (AHRQ) five-level emergency department triage algorithm for patient acuity stratification and red flag escalation.
  </a:t>
            </a:r>
            <a:r>
              <a:rPr b="1" sz="950">
                <a:solidFill>
                  <a:srgbClr val="2563EB"/>
                </a:solidFill>
              </a:rPr>
              <a:t>URL: https://www.ahrq.gov/patient-safety/settings/emergency-dept/esi.html</a:t>
            </a:r>
          </a:p>
          <a:p>
            <a:pPr>
              <a:spcAft>
                <a:spcPts val="600"/>
              </a:spcAft>
              <a:defRPr b="1" sz="1150">
                <a:solidFill>
                  <a:srgbClr val="1A365D"/>
                </a:solidFill>
              </a:defRPr>
            </a:pPr>
            <a:r>
              <a:t>• 4. Clinical Consultation Workload &amp; Burnout Studies</a:t>
            </a:r>
            <a:br/>
            <a:r>
              <a:t>  </a:t>
            </a:r>
            <a:r>
              <a:rPr b="0" sz="1000">
                <a:solidFill>
                  <a:srgbClr val="1E293B"/>
                </a:solidFill>
              </a:rPr>
              <a:t>World Health Organization (WHO) &amp; The Lancet Global Health studies on outpatient consultation time constraints and physician cognitive burden in low-resource settings.
  </a:t>
            </a:r>
            <a:r>
              <a:rPr b="1" sz="950">
                <a:solidFill>
                  <a:srgbClr val="2563EB"/>
                </a:solidFill>
              </a:rPr>
              <a:t>URL: https://www.thelancet.com/journals/langlo/home</a:t>
            </a:r>
          </a:p>
          <a:p>
            <a:pPr>
              <a:spcAft>
                <a:spcPts val="600"/>
              </a:spcAft>
              <a:defRPr b="1" sz="1150">
                <a:solidFill>
                  <a:srgbClr val="1A365D"/>
                </a:solidFill>
              </a:defRPr>
            </a:pPr>
            <a:r>
              <a:t>• 5. MediKiosk Open Repository &amp; Verified Implementation</a:t>
            </a:r>
            <a:br/>
            <a:r>
              <a:t>  </a:t>
            </a:r>
            <a:r>
              <a:rPr b="0" sz="1000">
                <a:solidFill>
                  <a:srgbClr val="1E293B"/>
                </a:solidFill>
              </a:rPr>
              <a:t>Complete production-ready codebase featuring React 18, FastAPI, PostgreSQL RLS security policies, and ABDM FHIR export integration.
  </a:t>
            </a:r>
            <a:r>
              <a:rPr b="1" sz="950">
                <a:solidFill>
                  <a:srgbClr val="2563EB"/>
                </a:solidFill>
              </a:rPr>
              <a:t>URL: https://github.com/rohithsaikambhampati/MediKiosk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